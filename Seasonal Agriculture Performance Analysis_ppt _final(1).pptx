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7"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400800" y="4705363"/>
            <a:ext cx="5159829" cy="651398"/>
          </a:xfrm>
        </p:spPr>
        <p:txBody>
          <a:bodyPr vert="horz" lIns="91440" tIns="45720" rIns="91440" bIns="45720" rtlCol="0" anchor="t">
            <a:normAutofit fontScale="85000" lnSpcReduction="20000"/>
          </a:bodyPr>
          <a:lstStyle/>
          <a:p>
            <a:pPr algn="r"/>
            <a:r>
              <a:rPr lang="en-US" b="0" dirty="0">
                <a:solidFill>
                  <a:schemeClr val="tx1"/>
                </a:solidFill>
              </a:rPr>
              <a:t>[ Student Name : Dadi Hemanth Kumar </a:t>
            </a:r>
            <a:endParaRPr lang="en-IN" b="0" dirty="0">
              <a:solidFill>
                <a:schemeClr val="tx1"/>
              </a:solidFill>
            </a:endParaRPr>
          </a:p>
          <a:p>
            <a:pPr algn="r"/>
            <a:r>
              <a:rPr lang="en-US" b="0" dirty="0">
                <a:solidFill>
                  <a:schemeClr val="tx1"/>
                </a:solidFill>
              </a:rPr>
              <a:t>College Name - Raghu Engineering College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2406386" y="2720491"/>
            <a:ext cx="7847045" cy="2239347"/>
          </a:xfrm>
        </p:spPr>
        <p:txBody>
          <a:bodyPr>
            <a:normAutofit/>
          </a:bodyPr>
          <a:lstStyle/>
          <a:p>
            <a:r>
              <a:rPr lang="en-IN" sz="3200" dirty="0">
                <a:latin typeface="+mj-lt"/>
              </a:rPr>
              <a:t>Project Title - </a:t>
            </a:r>
            <a:r>
              <a:rPr lang="en-IN" sz="3200" b="1" dirty="0">
                <a:latin typeface="Bahnschrift Light" panose="020B0502040204020203" pitchFamily="34" charset="0"/>
              </a:rPr>
              <a:t>Seasonal Agriculture</a:t>
            </a:r>
            <a:br>
              <a:rPr lang="en-IN" sz="3200" b="1" dirty="0">
                <a:latin typeface="Bahnschrift Light" panose="020B0502040204020203" pitchFamily="34" charset="0"/>
              </a:rPr>
            </a:br>
            <a:r>
              <a:rPr lang="en-IN" sz="3200" b="1" dirty="0">
                <a:latin typeface="Bahnschrift Light" panose="020B0502040204020203" pitchFamily="34" charset="0"/>
              </a:rPr>
              <a:t>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2649894" y="1810139"/>
            <a:ext cx="7063066" cy="1845359"/>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259016" y="5356761"/>
            <a:ext cx="5443395" cy="369332"/>
          </a:xfrm>
          <a:prstGeom prst="rect">
            <a:avLst/>
          </a:prstGeom>
          <a:noFill/>
        </p:spPr>
        <p:txBody>
          <a:bodyPr wrap="square" rtlCol="0">
            <a:spAutoFit/>
          </a:bodyPr>
          <a:lstStyle/>
          <a:p>
            <a:r>
              <a:rPr lang="en-US" b="1" dirty="0"/>
              <a:t>AICTE STU ID : (STU67ea4fd1781621743409105)</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8" y="805214"/>
            <a:ext cx="4434115" cy="575718"/>
          </a:xfrm>
        </p:spPr>
        <p:txBody>
          <a:bodyPr>
            <a:normAutofit fontScale="90000"/>
          </a:bodyPr>
          <a:lstStyle/>
          <a:p>
            <a:r>
              <a:rPr lang="en-GB" sz="3600" dirty="0"/>
              <a:t>Project Description :  </a:t>
            </a:r>
            <a:br>
              <a:rPr lang="en-GB" dirty="0"/>
            </a:br>
            <a:br>
              <a:rPr lang="en-GB" dirty="0"/>
            </a:br>
            <a:br>
              <a:rPr lang="en-GB" dirty="0"/>
            </a:br>
            <a:br>
              <a:rPr lang="en-IN"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887171" y="3194697"/>
            <a:ext cx="3706253" cy="296092"/>
          </a:xfrm>
          <a:prstGeom prst="rect">
            <a:avLst/>
          </a:prstGeom>
        </p:spPr>
      </p:pic>
      <p:sp>
        <p:nvSpPr>
          <p:cNvPr id="4" name="TextBox 3">
            <a:extLst>
              <a:ext uri="{FF2B5EF4-FFF2-40B4-BE49-F238E27FC236}">
                <a16:creationId xmlns:a16="http://schemas.microsoft.com/office/drawing/2014/main" id="{B30B41D0-80D9-52EE-1866-C6EE6355F7A0}"/>
              </a:ext>
            </a:extLst>
          </p:cNvPr>
          <p:cNvSpPr txBox="1"/>
          <p:nvPr/>
        </p:nvSpPr>
        <p:spPr>
          <a:xfrm>
            <a:off x="407015" y="1380932"/>
            <a:ext cx="10982643" cy="2862322"/>
          </a:xfrm>
          <a:prstGeom prst="rect">
            <a:avLst/>
          </a:prstGeom>
          <a:noFill/>
        </p:spPr>
        <p:txBody>
          <a:bodyPr wrap="square">
            <a:spAutoFit/>
          </a:bodyPr>
          <a:lstStyle/>
          <a:p>
            <a:pPr marL="285750" indent="-285750">
              <a:buFont typeface="Arial" panose="020B0604020202020204" pitchFamily="34" charset="0"/>
              <a:buChar char="•"/>
            </a:pPr>
            <a:r>
              <a:rPr lang="en-US" dirty="0"/>
              <a:t>This project analyzes agricultural performance on Kharif, Rabi and Zadi   </a:t>
            </a:r>
            <a:r>
              <a:rPr lang="en-US" dirty="0" err="1"/>
              <a:t>seasons.The</a:t>
            </a:r>
            <a:r>
              <a:rPr lang="en-US" dirty="0"/>
              <a:t> dataset was cleaned and </a:t>
            </a:r>
            <a:r>
              <a:rPr lang="en-US" dirty="0" err="1"/>
              <a:t>anlyzed</a:t>
            </a:r>
            <a:r>
              <a:rPr lang="en-US" dirty="0"/>
              <a:t> by removing null values and duplicate rows to understand </a:t>
            </a:r>
            <a:r>
              <a:rPr lang="en-US" dirty="0" err="1"/>
              <a:t>yield,production,profit</a:t>
            </a:r>
            <a:r>
              <a:rPr lang="en-US" dirty="0"/>
              <a:t> crop and irrigation analysis. On also on Seasonal environmental conditions , irrigation methods were compared . This helps in seasonal </a:t>
            </a:r>
            <a:r>
              <a:rPr lang="en-US" dirty="0" err="1"/>
              <a:t>comparisions</a:t>
            </a:r>
            <a:r>
              <a:rPr lang="en-US" dirty="0"/>
              <a:t> and visualizations to identify important patterns and </a:t>
            </a:r>
            <a:r>
              <a:rPr lang="en-US" dirty="0" err="1"/>
              <a:t>varitions</a:t>
            </a:r>
            <a:r>
              <a:rPr lang="en-US" dirty="0"/>
              <a:t>. </a:t>
            </a:r>
          </a:p>
          <a:p>
            <a:endParaRPr lang="en-US" dirty="0"/>
          </a:p>
          <a:p>
            <a:pPr marL="285750" indent="-285750">
              <a:buFont typeface="Arial" panose="020B0604020202020204" pitchFamily="34" charset="0"/>
              <a:buChar char="•"/>
            </a:pPr>
            <a:r>
              <a:rPr lang="en-US" dirty="0"/>
              <a:t>  Correlation analysis was performed to understand relationships between different agricultural factors and yield. </a:t>
            </a:r>
            <a:r>
              <a:rPr lang="en-IN" dirty="0"/>
              <a:t>One-way ANOVA was used to check whether the differences in average yield across seasons were statistically significant.</a:t>
            </a:r>
            <a:br>
              <a:rPr lang="en-IN" dirty="0"/>
            </a:br>
            <a:r>
              <a:rPr lang="en-IN" dirty="0"/>
              <a:t>Based on the findings, suitable conclusions and data-driven recommendations were developed.</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buFont typeface="Arial" panose="020B0604020202020204" pitchFamily="34" charset="0"/>
              <a:buChar char="•"/>
            </a:pPr>
            <a:r>
              <a:rPr lang="en-US" sz="2400" dirty="0"/>
              <a:t>Farmers</a:t>
            </a:r>
          </a:p>
          <a:p>
            <a:pPr algn="just">
              <a:lnSpc>
                <a:spcPct val="150000"/>
              </a:lnSpc>
              <a:buFont typeface="Arial" panose="020B0604020202020204" pitchFamily="34" charset="0"/>
              <a:buChar char="•"/>
            </a:pPr>
            <a:r>
              <a:rPr lang="en-US" sz="2400" dirty="0"/>
              <a:t>Agricultural departments</a:t>
            </a:r>
          </a:p>
          <a:p>
            <a:pPr algn="just">
              <a:lnSpc>
                <a:spcPct val="150000"/>
              </a:lnSpc>
              <a:buFont typeface="Arial" panose="020B0604020202020204" pitchFamily="34" charset="0"/>
              <a:buChar char="•"/>
            </a:pPr>
            <a:r>
              <a:rPr lang="en-US" sz="2400" dirty="0"/>
              <a:t>Water management terms</a:t>
            </a:r>
          </a:p>
          <a:p>
            <a:pPr algn="just">
              <a:lnSpc>
                <a:spcPct val="150000"/>
              </a:lnSpc>
              <a:buFont typeface="Arial" panose="020B0604020202020204" pitchFamily="34" charset="0"/>
              <a:buChar char="•"/>
            </a:pPr>
            <a:r>
              <a:rPr lang="en-US" sz="2400" dirty="0"/>
              <a:t>Agricultural Researchers</a:t>
            </a:r>
          </a:p>
          <a:p>
            <a:pPr algn="just">
              <a:lnSpc>
                <a:spcPct val="150000"/>
              </a:lnSpc>
              <a:buFont typeface="Arial" panose="020B0604020202020204" pitchFamily="34" charset="0"/>
              <a:buChar char="•"/>
            </a:pPr>
            <a:r>
              <a:rPr lang="en-US" sz="2400" dirty="0"/>
              <a:t>Crop management Professionals</a:t>
            </a:r>
          </a:p>
          <a:p>
            <a:pPr algn="just">
              <a:lnSpc>
                <a:spcPct val="150000"/>
              </a:lnSpc>
              <a:buFont typeface="Arial" panose="020B0604020202020204" pitchFamily="34" charset="0"/>
              <a:buChar char="•"/>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marL="457200" lvl="1" indent="0">
              <a:lnSpc>
                <a:spcPct val="100000"/>
              </a:lnSpc>
              <a:buNone/>
            </a:pPr>
            <a:endParaRPr lang="en-US" dirty="0"/>
          </a:p>
          <a:p>
            <a:pPr lvl="1">
              <a:buFont typeface="Arial" panose="020B0604020202020204" pitchFamily="34" charset="0"/>
              <a:buChar char="•"/>
            </a:pPr>
            <a:r>
              <a:rPr lang="en-IN" dirty="0"/>
              <a:t>Python</a:t>
            </a:r>
          </a:p>
          <a:p>
            <a:pPr lvl="1">
              <a:buFont typeface="Arial" panose="020B0604020202020204" pitchFamily="34" charset="0"/>
              <a:buChar char="•"/>
            </a:pPr>
            <a:r>
              <a:rPr lang="en-IN" dirty="0"/>
              <a:t>Pandas</a:t>
            </a:r>
          </a:p>
          <a:p>
            <a:pPr lvl="1">
              <a:buFont typeface="Arial" panose="020B0604020202020204" pitchFamily="34" charset="0"/>
              <a:buChar char="•"/>
            </a:pPr>
            <a:r>
              <a:rPr lang="en-IN" dirty="0"/>
              <a:t>NumPy </a:t>
            </a:r>
          </a:p>
          <a:p>
            <a:pPr lvl="1">
              <a:buFont typeface="Arial" panose="020B0604020202020204" pitchFamily="34" charset="0"/>
              <a:buChar char="•"/>
            </a:pPr>
            <a:r>
              <a:rPr lang="en-IN" dirty="0"/>
              <a:t>Matplotlib </a:t>
            </a:r>
          </a:p>
          <a:p>
            <a:pPr lvl="1">
              <a:buFont typeface="Arial" panose="020B0604020202020204" pitchFamily="34" charset="0"/>
              <a:buChar char="•"/>
            </a:pPr>
            <a:r>
              <a:rPr lang="en-IN" dirty="0"/>
              <a:t>Seaborn    </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1000"/>
                                        <p:tgtEl>
                                          <p:spTgt spid="7">
                                            <p:txEl>
                                              <p:pRg st="2" end="2"/>
                                            </p:txEl>
                                          </p:spTgt>
                                        </p:tgtEl>
                                      </p:cBhvr>
                                    </p:animEffect>
                                    <p:anim calcmode="lin" valueType="num">
                                      <p:cBhvr>
                                        <p:cTn id="20"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3" end="3"/>
                                            </p:txEl>
                                          </p:spTgt>
                                        </p:tgtEl>
                                        <p:attrNameLst>
                                          <p:attrName>style.visibility</p:attrName>
                                        </p:attrNameLst>
                                      </p:cBhvr>
                                      <p:to>
                                        <p:strVal val="visible"/>
                                      </p:to>
                                    </p:set>
                                    <p:animEffect transition="in" filter="fade">
                                      <p:cBhvr>
                                        <p:cTn id="24" dur="1000"/>
                                        <p:tgtEl>
                                          <p:spTgt spid="7">
                                            <p:txEl>
                                              <p:pRg st="3" end="3"/>
                                            </p:txEl>
                                          </p:spTgt>
                                        </p:tgtEl>
                                      </p:cBhvr>
                                    </p:animEffect>
                                    <p:anim calcmode="lin" valueType="num">
                                      <p:cBhvr>
                                        <p:cTn id="25"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animEffect transition="in" filter="fade">
                                      <p:cBhvr>
                                        <p:cTn id="29" dur="1000"/>
                                        <p:tgtEl>
                                          <p:spTgt spid="7">
                                            <p:txEl>
                                              <p:pRg st="4" end="4"/>
                                            </p:txEl>
                                          </p:spTgt>
                                        </p:tgtEl>
                                      </p:cBhvr>
                                    </p:animEffect>
                                    <p:anim calcmode="lin" valueType="num">
                                      <p:cBhvr>
                                        <p:cTn id="30"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5" end="5"/>
                                            </p:txEl>
                                          </p:spTgt>
                                        </p:tgtEl>
                                        <p:attrNameLst>
                                          <p:attrName>style.visibility</p:attrName>
                                        </p:attrNameLst>
                                      </p:cBhvr>
                                      <p:to>
                                        <p:strVal val="visible"/>
                                      </p:to>
                                    </p:set>
                                    <p:animEffect transition="in" filter="fade">
                                      <p:cBhvr>
                                        <p:cTn id="34" dur="1000"/>
                                        <p:tgtEl>
                                          <p:spTgt spid="7">
                                            <p:txEl>
                                              <p:pRg st="5" end="5"/>
                                            </p:txEl>
                                          </p:spTgt>
                                        </p:tgtEl>
                                      </p:cBhvr>
                                    </p:animEffect>
                                    <p:anim calcmode="lin" valueType="num">
                                      <p:cBhvr>
                                        <p:cTn id="35"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0"/>
            <a:ext cx="3343561" cy="3914467"/>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12CD2F32-7B6D-E694-43D9-33ABD667ED08}"/>
              </a:ext>
            </a:extLst>
          </p:cNvPr>
          <p:cNvPicPr>
            <a:picLocks noChangeAspect="1"/>
          </p:cNvPicPr>
          <p:nvPr/>
        </p:nvPicPr>
        <p:blipFill>
          <a:blip r:embed="rId3"/>
          <a:stretch>
            <a:fillRect/>
          </a:stretch>
        </p:blipFill>
        <p:spPr>
          <a:xfrm>
            <a:off x="5251864" y="1367395"/>
            <a:ext cx="5065786" cy="4407417"/>
          </a:xfrm>
          <a:prstGeom prst="rect">
            <a:avLst/>
          </a:prstGeom>
        </p:spPr>
      </p:pic>
      <p:sp>
        <p:nvSpPr>
          <p:cNvPr id="6" name="TextBox 5">
            <a:extLst>
              <a:ext uri="{FF2B5EF4-FFF2-40B4-BE49-F238E27FC236}">
                <a16:creationId xmlns:a16="http://schemas.microsoft.com/office/drawing/2014/main" id="{D297CF06-B59C-78D3-E916-54A115EBF4F5}"/>
              </a:ext>
            </a:extLst>
          </p:cNvPr>
          <p:cNvSpPr txBox="1"/>
          <p:nvPr/>
        </p:nvSpPr>
        <p:spPr>
          <a:xfrm>
            <a:off x="420129" y="2299003"/>
            <a:ext cx="6104238" cy="646331"/>
          </a:xfrm>
          <a:prstGeom prst="rect">
            <a:avLst/>
          </a:prstGeom>
          <a:noFill/>
        </p:spPr>
        <p:txBody>
          <a:bodyPr wrap="square">
            <a:spAutoFit/>
          </a:bodyPr>
          <a:lstStyle/>
          <a:p>
            <a:r>
              <a:rPr lang="en-IN" dirty="0"/>
              <a:t>Kharif recorded the highest average yield</a:t>
            </a:r>
          </a:p>
          <a:p>
            <a:r>
              <a:rPr lang="en-IN" dirty="0"/>
              <a:t>Followed by Rabi and Zaid.</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320982" y="1431692"/>
            <a:ext cx="4761320" cy="2879051"/>
          </a:xfrm>
        </p:spPr>
        <p:txBody>
          <a:bodyPr>
            <a:normAutofit/>
          </a:bodyPr>
          <a:lstStyle/>
          <a:p>
            <a:pPr>
              <a:buFont typeface="Arial" panose="020B0604020202020204" pitchFamily="34" charset="0"/>
              <a:buChar char="•"/>
            </a:pPr>
            <a:r>
              <a:rPr lang="en-IN" dirty="0"/>
              <a:t>Kharif has highest average profit, while  Zaid has negative average profit.</a:t>
            </a:r>
          </a:p>
          <a:p>
            <a:pPr>
              <a:buFont typeface="Arial" panose="020B0604020202020204" pitchFamily="34" charset="0"/>
              <a:buChar char="•"/>
            </a:pPr>
            <a:r>
              <a:rPr lang="en-IN" dirty="0"/>
              <a:t>This tells variation in </a:t>
            </a:r>
            <a:r>
              <a:rPr lang="en-IN" dirty="0" err="1"/>
              <a:t>ecnomic</a:t>
            </a:r>
            <a:r>
              <a:rPr lang="en-IN" dirty="0"/>
              <a:t> performance of farming across seasons.</a:t>
            </a:r>
          </a:p>
          <a:p>
            <a:pPr marL="0" indent="0">
              <a:buNone/>
            </a:pPr>
            <a:endParaRPr lang="en-IN" dirty="0"/>
          </a:p>
        </p:txBody>
      </p:sp>
      <p:pic>
        <p:nvPicPr>
          <p:cNvPr id="2" name="Picture 1">
            <a:extLst>
              <a:ext uri="{FF2B5EF4-FFF2-40B4-BE49-F238E27FC236}">
                <a16:creationId xmlns:a16="http://schemas.microsoft.com/office/drawing/2014/main" id="{15C7D205-E20E-67AF-E339-8F91197BA79B}"/>
              </a:ext>
            </a:extLst>
          </p:cNvPr>
          <p:cNvPicPr>
            <a:picLocks noChangeAspect="1"/>
          </p:cNvPicPr>
          <p:nvPr/>
        </p:nvPicPr>
        <p:blipFill>
          <a:blip r:embed="rId3"/>
          <a:stretch>
            <a:fillRect/>
          </a:stretch>
        </p:blipFill>
        <p:spPr>
          <a:xfrm>
            <a:off x="5331235" y="1175212"/>
            <a:ext cx="5458979" cy="440741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2"/>
            <a:ext cx="4275138" cy="4028581"/>
          </a:xfrm>
        </p:spPr>
        <p:txBody>
          <a:bodyPr/>
          <a:lstStyle/>
          <a:p>
            <a:pPr>
              <a:buFont typeface="Arial" panose="020B0604020202020204" pitchFamily="34" charset="0"/>
              <a:buChar char="•"/>
            </a:pPr>
            <a:r>
              <a:rPr lang="en-US" dirty="0"/>
              <a:t>Zaid has lowest water efficiency, while Kharif has highest water efficiency.</a:t>
            </a:r>
          </a:p>
          <a:p>
            <a:pPr>
              <a:buFont typeface="Arial" panose="020B0604020202020204" pitchFamily="34" charset="0"/>
              <a:buChar char="•"/>
            </a:pPr>
            <a:r>
              <a:rPr lang="en-US" dirty="0"/>
              <a:t>This tells how efficiently water is utilized.</a:t>
            </a:r>
          </a:p>
        </p:txBody>
      </p:sp>
      <p:pic>
        <p:nvPicPr>
          <p:cNvPr id="3" name="Picture 2">
            <a:extLst>
              <a:ext uri="{FF2B5EF4-FFF2-40B4-BE49-F238E27FC236}">
                <a16:creationId xmlns:a16="http://schemas.microsoft.com/office/drawing/2014/main" id="{D58620FF-4471-C3CE-C88F-9C8A31700411}"/>
              </a:ext>
            </a:extLst>
          </p:cNvPr>
          <p:cNvPicPr>
            <a:picLocks noChangeAspect="1"/>
          </p:cNvPicPr>
          <p:nvPr/>
        </p:nvPicPr>
        <p:blipFill>
          <a:blip r:embed="rId3"/>
          <a:stretch>
            <a:fillRect/>
          </a:stretch>
        </p:blipFill>
        <p:spPr>
          <a:xfrm>
            <a:off x="6096000" y="1175212"/>
            <a:ext cx="5065786" cy="4407417"/>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407416"/>
          </a:xfrm>
        </p:spPr>
        <p:txBody>
          <a:bodyPr>
            <a:normAutofit/>
          </a:bodyPr>
          <a:lstStyle/>
          <a:p>
            <a:pPr>
              <a:buFont typeface="Arial" panose="020B0604020202020204" pitchFamily="34" charset="0"/>
              <a:buChar char="•"/>
            </a:pPr>
            <a:r>
              <a:rPr lang="en-US" dirty="0"/>
              <a:t>From bar graph, Kharif showed the highest average in disease and pet risk in all three seasons.</a:t>
            </a:r>
          </a:p>
          <a:p>
            <a:pPr>
              <a:buFont typeface="Arial" panose="020B0604020202020204" pitchFamily="34" charset="0"/>
              <a:buChar char="•"/>
            </a:pPr>
            <a:r>
              <a:rPr lang="en-US" dirty="0"/>
              <a:t>This tells agricultural risk varies in seasonal conditions.</a:t>
            </a:r>
          </a:p>
          <a:p>
            <a:pPr>
              <a:buFont typeface="Arial" panose="020B0604020202020204" pitchFamily="34" charset="0"/>
              <a:buChar char="•"/>
            </a:pPr>
            <a:r>
              <a:rPr lang="en-US" dirty="0"/>
              <a:t>Here, highest season has highest disease and pet risk .</a:t>
            </a:r>
            <a:endParaRPr lang="en-IN" dirty="0"/>
          </a:p>
          <a:p>
            <a:pPr>
              <a:buFont typeface="Arial" panose="020B0604020202020204" pitchFamily="34" charset="0"/>
              <a:buChar char="•"/>
            </a:pPr>
            <a:endParaRPr lang="en-IN" dirty="0"/>
          </a:p>
        </p:txBody>
      </p:sp>
      <p:pic>
        <p:nvPicPr>
          <p:cNvPr id="2" name="Picture 1">
            <a:extLst>
              <a:ext uri="{FF2B5EF4-FFF2-40B4-BE49-F238E27FC236}">
                <a16:creationId xmlns:a16="http://schemas.microsoft.com/office/drawing/2014/main" id="{E0836C4B-8FAE-9AED-5F2C-BB1F569FF756}"/>
              </a:ext>
            </a:extLst>
          </p:cNvPr>
          <p:cNvPicPr>
            <a:picLocks noChangeAspect="1"/>
          </p:cNvPicPr>
          <p:nvPr/>
        </p:nvPicPr>
        <p:blipFill>
          <a:blip r:embed="rId3"/>
          <a:stretch>
            <a:fillRect/>
          </a:stretch>
        </p:blipFill>
        <p:spPr>
          <a:xfrm>
            <a:off x="5568484" y="1201586"/>
            <a:ext cx="5138938" cy="440741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44C9A-E490-6930-37EC-8BD2843DF8F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F42EB5A-D52F-8563-444D-2E351A82595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A5A7C6D-6528-F07B-A5FC-1434C661311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3B9289F-7CD1-5309-A05B-AED5C3579A3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91DCC18-65F6-C6C6-D6C1-8B27F2ACE8C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29B8A57-9AA2-C631-A0F7-AF0991F22F60}"/>
              </a:ext>
            </a:extLst>
          </p:cNvPr>
          <p:cNvSpPr>
            <a:spLocks noGrp="1"/>
          </p:cNvSpPr>
          <p:nvPr>
            <p:ph type="body" sz="quarter" idx="12"/>
          </p:nvPr>
        </p:nvSpPr>
        <p:spPr>
          <a:xfrm>
            <a:off x="807164" y="1431693"/>
            <a:ext cx="4275138" cy="3950204"/>
          </a:xfrm>
        </p:spPr>
        <p:txBody>
          <a:bodyPr>
            <a:normAutofit/>
          </a:bodyPr>
          <a:lstStyle/>
          <a:p>
            <a:pPr>
              <a:buFont typeface="Arial" panose="020B0604020202020204" pitchFamily="34" charset="0"/>
              <a:buChar char="•"/>
            </a:pPr>
            <a:r>
              <a:rPr lang="en-US" dirty="0"/>
              <a:t>Correlation tells how strong variables related to each other.</a:t>
            </a:r>
          </a:p>
          <a:p>
            <a:pPr>
              <a:buFont typeface="Arial" panose="020B0604020202020204" pitchFamily="34" charset="0"/>
              <a:buChar char="•"/>
            </a:pPr>
            <a:r>
              <a:rPr lang="en-US" dirty="0"/>
              <a:t>Its range is from ( -1 to 1)</a:t>
            </a:r>
          </a:p>
          <a:p>
            <a:pPr>
              <a:buFont typeface="Arial" panose="020B0604020202020204" pitchFamily="34" charset="0"/>
              <a:buChar char="•"/>
            </a:pPr>
            <a:r>
              <a:rPr lang="en-US" dirty="0"/>
              <a:t>Here water efficiency with yield has positive relationship</a:t>
            </a:r>
            <a:endParaRPr lang="en-IN" dirty="0"/>
          </a:p>
        </p:txBody>
      </p:sp>
      <p:pic>
        <p:nvPicPr>
          <p:cNvPr id="2" name="Picture 1">
            <a:extLst>
              <a:ext uri="{FF2B5EF4-FFF2-40B4-BE49-F238E27FC236}">
                <a16:creationId xmlns:a16="http://schemas.microsoft.com/office/drawing/2014/main" id="{AEC78F99-F89C-9D23-5233-38A9F2228F2A}"/>
              </a:ext>
            </a:extLst>
          </p:cNvPr>
          <p:cNvPicPr>
            <a:picLocks noChangeAspect="1"/>
          </p:cNvPicPr>
          <p:nvPr/>
        </p:nvPicPr>
        <p:blipFill>
          <a:blip r:embed="rId3"/>
          <a:stretch>
            <a:fillRect/>
          </a:stretch>
        </p:blipFill>
        <p:spPr>
          <a:xfrm>
            <a:off x="6096000" y="1275371"/>
            <a:ext cx="5217371" cy="4336732"/>
          </a:xfrm>
          <a:prstGeom prst="rect">
            <a:avLst/>
          </a:prstGeom>
        </p:spPr>
      </p:pic>
    </p:spTree>
    <p:extLst>
      <p:ext uri="{BB962C8B-B14F-4D97-AF65-F5344CB8AC3E}">
        <p14:creationId xmlns:p14="http://schemas.microsoft.com/office/powerpoint/2010/main" val="90110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B5D0AC37-5594-5AA2-70DE-1FD467A1EF7C}"/>
              </a:ext>
            </a:extLst>
          </p:cNvPr>
          <p:cNvSpPr txBox="1"/>
          <p:nvPr/>
        </p:nvSpPr>
        <p:spPr>
          <a:xfrm>
            <a:off x="746447" y="1276570"/>
            <a:ext cx="5523724" cy="2585323"/>
          </a:xfrm>
          <a:prstGeom prst="rect">
            <a:avLst/>
          </a:prstGeom>
          <a:noFill/>
        </p:spPr>
        <p:txBody>
          <a:bodyPr wrap="square">
            <a:spAutoFit/>
          </a:bodyPr>
          <a:lstStyle/>
          <a:p>
            <a:pPr marL="285750" indent="-285750">
              <a:buFont typeface="Arial" panose="020B0604020202020204" pitchFamily="34" charset="0"/>
              <a:buChar char="•"/>
            </a:pPr>
            <a:r>
              <a:rPr lang="en-IN" dirty="0"/>
              <a:t>Future analysis can focus on predicting crop yield</a:t>
            </a:r>
            <a:r>
              <a:rPr lang="en-IN" b="1" dirty="0"/>
              <a:t> </a:t>
            </a:r>
            <a:r>
              <a:rPr lang="en-IN" dirty="0"/>
              <a:t>and profit using historical data.</a:t>
            </a:r>
          </a:p>
          <a:p>
            <a:endParaRPr lang="en-IN" dirty="0"/>
          </a:p>
          <a:p>
            <a:pPr marL="285750" indent="-285750">
              <a:buFont typeface="Arial" panose="020B0604020202020204" pitchFamily="34" charset="0"/>
              <a:buChar char="•"/>
            </a:pPr>
            <a:r>
              <a:rPr lang="en-IN" dirty="0"/>
              <a:t>A simple dashboard can be developed to make the results easier to understand.</a:t>
            </a:r>
          </a:p>
          <a:p>
            <a:endParaRPr lang="en-IN" dirty="0"/>
          </a:p>
          <a:p>
            <a:pPr marL="285750" indent="-285750">
              <a:buFont typeface="Arial" panose="020B0604020202020204" pitchFamily="34" charset="0"/>
              <a:buChar char="•"/>
            </a:pPr>
            <a:r>
              <a:rPr lang="en-IN" dirty="0"/>
              <a:t>The analysis can be extended using data from more years and regions.</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6079818" cy="1057282"/>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AA876ABD-29DF-6169-2EAD-0009BC7B2DF1}"/>
              </a:ext>
            </a:extLst>
          </p:cNvPr>
          <p:cNvSpPr txBox="1"/>
          <p:nvPr/>
        </p:nvSpPr>
        <p:spPr>
          <a:xfrm>
            <a:off x="765110" y="1558759"/>
            <a:ext cx="5868955" cy="646331"/>
          </a:xfrm>
          <a:prstGeom prst="rect">
            <a:avLst/>
          </a:prstGeom>
          <a:noFill/>
        </p:spPr>
        <p:txBody>
          <a:bodyPr wrap="square">
            <a:spAutoFit/>
          </a:bodyPr>
          <a:lstStyle/>
          <a:p>
            <a:r>
              <a:rPr lang="en-IN" dirty="0"/>
              <a:t>https://github.com/hemanth25072006/Seasonal-Agriculture-Performance-Analysis.git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6527276" cy="982350"/>
          </a:xfrm>
        </p:spPr>
        <p:txBody>
          <a:bodyPr>
            <a:normAutofit/>
          </a:bodyPr>
          <a:lstStyle/>
          <a:p>
            <a:r>
              <a:rPr lang="en-IN" sz="2400" dirty="0"/>
              <a:t>VOIS Course completion certificate - </a:t>
            </a:r>
            <a:br>
              <a:rPr lang="en-IN" sz="2400" dirty="0"/>
            </a:br>
            <a:r>
              <a:rPr lang="en-IN" sz="24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0" name="Picture 9">
            <a:extLst>
              <a:ext uri="{FF2B5EF4-FFF2-40B4-BE49-F238E27FC236}">
                <a16:creationId xmlns:a16="http://schemas.microsoft.com/office/drawing/2014/main" id="{5471B32C-DDC8-FA35-EF7B-4134298E5BDA}"/>
              </a:ext>
            </a:extLst>
          </p:cNvPr>
          <p:cNvPicPr>
            <a:picLocks noChangeAspect="1"/>
          </p:cNvPicPr>
          <p:nvPr/>
        </p:nvPicPr>
        <p:blipFill>
          <a:blip r:embed="rId3"/>
          <a:stretch>
            <a:fillRect/>
          </a:stretch>
        </p:blipFill>
        <p:spPr>
          <a:xfrm>
            <a:off x="1838131" y="1249043"/>
            <a:ext cx="7373474" cy="522287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7560" y="2723220"/>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flipH="1">
            <a:off x="2917853" y="3962573"/>
            <a:ext cx="57160" cy="172207"/>
          </a:xfrm>
        </p:spPr>
        <p:txBody>
          <a:bodyPr>
            <a:normAutofit fontScale="25000" lnSpcReduction="20000"/>
          </a:bodyPr>
          <a:lstStyle/>
          <a:p>
            <a:r>
              <a:rPr lang="en-US" dirty="0"/>
              <a:t>.</a:t>
            </a:r>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1617</TotalTime>
  <Words>467</Words>
  <Application>Microsoft Office PowerPoint</Application>
  <PresentationFormat>Widescreen</PresentationFormat>
  <Paragraphs>54</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Bahnschrift Light</vt:lpstr>
      <vt:lpstr>Calibri</vt:lpstr>
      <vt:lpstr>Trebuchet MS</vt:lpstr>
      <vt:lpstr>Wingdings</vt:lpstr>
      <vt:lpstr>Wingdings 3</vt:lpstr>
      <vt:lpstr>Facet</vt:lpstr>
      <vt:lpstr>Project Title - Seasonal Agriculture                             Performance Analysis                                                                     </vt:lpstr>
      <vt:lpstr>PROBLEM  STATEMENT</vt:lpstr>
      <vt:lpstr>Project Description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dadihemanth7@outlook.com</cp:lastModifiedBy>
  <cp:revision>101</cp:revision>
  <dcterms:created xsi:type="dcterms:W3CDTF">2021-07-11T13:13:15Z</dcterms:created>
  <dcterms:modified xsi:type="dcterms:W3CDTF">2026-09-09T17:29:46Z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